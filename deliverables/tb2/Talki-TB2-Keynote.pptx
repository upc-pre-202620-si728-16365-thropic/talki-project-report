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6f5fddd996458b" /><Relationship Type="http://schemas.openxmlformats.org/officeDocument/2006/relationships/extended-properties" Target="/docProps/app.xml" Id="Rfdb225a830f64c55" /><Relationship Type="http://schemas.openxmlformats.org/officeDocument/2006/relationships/officeDocument" Target="/ppt/presentation.xml" Id="R78d6543c03e443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709992327440ed"/>
  </p:sldMasterIdLst>
  <p:notesMasterIdLst>
    <p:notesMasterId xmlns:r="http://schemas.openxmlformats.org/officeDocument/2006/relationships" r:id="R3375f854abc44741"/>
  </p:notesMasterIdLst>
  <p:sldIdLst>
    <p:sldId xmlns:r="http://schemas.openxmlformats.org/officeDocument/2006/relationships" id="256" r:id="R87edd5c290f74975"/>
    <p:sldId xmlns:r="http://schemas.openxmlformats.org/officeDocument/2006/relationships" id="257" r:id="R4cc886632baa4014"/>
    <p:sldId xmlns:r="http://schemas.openxmlformats.org/officeDocument/2006/relationships" id="258" r:id="Ra629472205b64433"/>
    <p:sldId xmlns:r="http://schemas.openxmlformats.org/officeDocument/2006/relationships" id="259" r:id="R4e71f7bbcdac4c75"/>
    <p:sldId xmlns:r="http://schemas.openxmlformats.org/officeDocument/2006/relationships" id="260" r:id="R956ca5b71609431e"/>
    <p:sldId xmlns:r="http://schemas.openxmlformats.org/officeDocument/2006/relationships" id="261" r:id="Rcab4b6b151da4b2f"/>
    <p:sldId xmlns:r="http://schemas.openxmlformats.org/officeDocument/2006/relationships" id="262" r:id="Rcf894ec6582b4c67"/>
    <p:sldId xmlns:r="http://schemas.openxmlformats.org/officeDocument/2006/relationships" id="263" r:id="Ra5da159109ec469a"/>
    <p:sldId xmlns:r="http://schemas.openxmlformats.org/officeDocument/2006/relationships" id="264" r:id="R699184356631437d"/>
    <p:sldId xmlns:r="http://schemas.openxmlformats.org/officeDocument/2006/relationships" id="265" r:id="R1434a918aa474b79"/>
    <p:sldId xmlns:r="http://schemas.openxmlformats.org/officeDocument/2006/relationships" id="266" r:id="Rb3932b1da12443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13afef11994843" /><Relationship Type="http://schemas.openxmlformats.org/officeDocument/2006/relationships/slideMaster" Target="/ppt/slideMasters/slideMaster1.xml" Id="R2f709992327440ed" /><Relationship Type="http://schemas.openxmlformats.org/officeDocument/2006/relationships/notesMaster" Target="/ppt/notesMasters/notesMaster1.xml" Id="R3375f854abc44741" /><Relationship Type="http://schemas.openxmlformats.org/officeDocument/2006/relationships/presProps" Target="/ppt/presProps.xml" Id="R9ee7392e56c2423f" /><Relationship Type="http://schemas.openxmlformats.org/officeDocument/2006/relationships/tableStyles" Target="/ppt/tableStyles.xml" Id="Re53acde3d7fb4b66" /><Relationship Type="http://schemas.openxmlformats.org/officeDocument/2006/relationships/slide" Target="/ppt/slides/slide1.xml" Id="R87edd5c290f74975" /><Relationship Type="http://schemas.openxmlformats.org/officeDocument/2006/relationships/slide" Target="/ppt/slides/slide2.xml" Id="R4cc886632baa4014" /><Relationship Type="http://schemas.openxmlformats.org/officeDocument/2006/relationships/slide" Target="/ppt/slides/slide3.xml" Id="Ra629472205b64433" /><Relationship Type="http://schemas.openxmlformats.org/officeDocument/2006/relationships/slide" Target="/ppt/slides/slide4.xml" Id="R4e71f7bbcdac4c75" /><Relationship Type="http://schemas.openxmlformats.org/officeDocument/2006/relationships/slide" Target="/ppt/slides/slide5.xml" Id="R956ca5b71609431e" /><Relationship Type="http://schemas.openxmlformats.org/officeDocument/2006/relationships/slide" Target="/ppt/slides/slide6.xml" Id="Rcab4b6b151da4b2f" /><Relationship Type="http://schemas.openxmlformats.org/officeDocument/2006/relationships/slide" Target="/ppt/slides/slide7.xml" Id="Rcf894ec6582b4c67" /><Relationship Type="http://schemas.openxmlformats.org/officeDocument/2006/relationships/slide" Target="/ppt/slides/slide8.xml" Id="Ra5da159109ec469a" /><Relationship Type="http://schemas.openxmlformats.org/officeDocument/2006/relationships/slide" Target="/ppt/slides/slide9.xml" Id="R699184356631437d" /><Relationship Type="http://schemas.openxmlformats.org/officeDocument/2006/relationships/slide" Target="/ppt/slides/slide10.xml" Id="R1434a918aa474b79" /><Relationship Type="http://schemas.openxmlformats.org/officeDocument/2006/relationships/slide" Target="/ppt/slides/slide11.xml" Id="Rb3932b1da12443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2421f3eb60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04ba4e840e4148" /><Relationship Type="http://schemas.openxmlformats.org/officeDocument/2006/relationships/notesMaster" Target="/ppt/notesMasters/notesMaster1.xml" Id="R2e26f69d60d046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53eba5b39b422d" /><Relationship Type="http://schemas.openxmlformats.org/officeDocument/2006/relationships/notesMaster" Target="/ppt/notesMasters/notesMaster1.xml" Id="Rd8a28f57ac8148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0bb63e21a645c9" /><Relationship Type="http://schemas.openxmlformats.org/officeDocument/2006/relationships/notesMaster" Target="/ppt/notesMasters/notesMaster1.xml" Id="Rb337d62e389e48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591bcfe6c3465e" /><Relationship Type="http://schemas.openxmlformats.org/officeDocument/2006/relationships/notesMaster" Target="/ppt/notesMasters/notesMaster1.xml" Id="R407630d32ac544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d828a8048e457d" /><Relationship Type="http://schemas.openxmlformats.org/officeDocument/2006/relationships/notesMaster" Target="/ppt/notesMasters/notesMaster1.xml" Id="Ra15e733e873942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2d764d51074890" /><Relationship Type="http://schemas.openxmlformats.org/officeDocument/2006/relationships/notesMaster" Target="/ppt/notesMasters/notesMaster1.xml" Id="Re030cb3274284b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c7d7d484184147" /><Relationship Type="http://schemas.openxmlformats.org/officeDocument/2006/relationships/notesMaster" Target="/ppt/notesMasters/notesMaster1.xml" Id="R95b4876e590b44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b946d39d874574" /><Relationship Type="http://schemas.openxmlformats.org/officeDocument/2006/relationships/notesMaster" Target="/ppt/notesMasters/notesMaster1.xml" Id="R7770719b40df4b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a22fd132134937" /><Relationship Type="http://schemas.openxmlformats.org/officeDocument/2006/relationships/notesMaster" Target="/ppt/notesMasters/notesMaster1.xml" Id="R7f15110a33fd46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529b41684541ec" /><Relationship Type="http://schemas.openxmlformats.org/officeDocument/2006/relationships/notesMaster" Target="/ppt/notesMasters/notesMaster1.xml" Id="Ra1c231ddfa9c45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bd1effffc347fa" /><Relationship Type="http://schemas.openxmlformats.org/officeDocument/2006/relationships/notesMaster" Target="/ppt/notesMasters/notesMaster1.xml" Id="R82d02268029c4a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 del informe 202620 y enunciado Trabajo Final_1ASI0728_202620.pdf pp.34–35 obtenido con Campus. Corte 30/10/2026. Presentación de avance: quedan pendientes el cierre del despliegue, aceptación y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Fotos originales y datos de 1.1.2 del informe. Todos estudian Ingeniería de Software. Cada integrante debe presentarse y explicar sus artefactos en las herramientas durante el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capítulos I–III y VI del informe actual. Pantalla de diseño mobile-setup.png; simulación, no evidencia de una sesión de voz real. Abrir landing y prototipo en navegador.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4.3.2, 4.3.4 y capítulo VII. Diseño objetivo de diez bounded contexts; base de ocho servicios. Abrir fuentes en Structurizr/PlantUML; las láminas no sustituyen la demostración en la herramienta.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assets/reused-202601/tb2/manifest.json; secciones 7.1.1–7.1.4. Los commits originales son del periodo 202601. Backend Spring Boot 3.2.5 Java17; frontend Next16.2.9 React19.2.4. La página32 del enunciado enumera Angular/Vue, por resolver.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assets/evidence/tb2/verification.json; ejecución JDK17.0.19 del 30/10/2026 sobre commits fijados. 133 pruebas, 0 fallos, 0 errores, 0 omitidas. No equivale a cobertura porcentual ni aceptación de producto.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assets/evidence/tb2/local-execution.json y openapi-local/. Fixture descartable; sin voz ni proveedor de IA pagado. Crear/leer/listar aprobados; finalizar desde DRAFT devuelve500. El dominio exige RECORDING y el controlador no expone inicio.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assets/evidence/tb2/verification.json, GET de 30/10/2026. Los códigos no permiten inferir causa administrativa. Prototipo público no es aplicación integrada.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7.3 y enunciado pp.27–28 y40. Protocolo listo; no se han presentado sesiones/resultados actuales. Videos pendientes por indicación del equipo. No reutilizar needfinding como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Campus, comentarios generales S07|TB1, columna_15245146_1, nota19/20: criterio3.c1 10/10 y3.c2 9/10. Registro aclarado; nuevos aportes y exposición por realizar. La lámina2 contiene las fotos y datos solicitados.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checklist docs/tb2/checklist.md y enunciado pp.34–35,39–40. Esta presentación es un avance revisable. No entregar como paquete cerrado mientras falten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41e4134a74b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de54e605649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3f125293e45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7a3d6a2f941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4042dc9d94c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c82c579af44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D3A02F-3F9B-4953-BE63-4F19EF3E5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E78710-8FB4-4B01-906F-07A0AED9DB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FF588E-656E-4F99-A85B-0F765B7A1D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6BD416-87C9-4305-A8DA-851ED5118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DAB781-E1E2-4B27-8CB6-A5566053F0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D087D4-8AE9-4FFE-AD37-83FDE04397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19A8A5-6D74-47CA-9BC7-96A3088756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30575D-203E-4DAF-9B2A-FE3E28DDEA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B81563-C65F-45F7-A73F-26B72ED2A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C97A82-DFE6-498A-8735-B6E0B2DDCA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19cf34d64145c1" /><Relationship Type="http://schemas.openxmlformats.org/officeDocument/2006/relationships/slideLayout" Target="/ppt/slideLayouts/slideLayout1.xml" Id="R1e45e84b9cd34414" /><Relationship Type="http://schemas.openxmlformats.org/officeDocument/2006/relationships/slideLayout" Target="/ppt/slideLayouts/slideLayout2.xml" Id="Rdb1c19db08fe4570" /><Relationship Type="http://schemas.openxmlformats.org/officeDocument/2006/relationships/slideLayout" Target="/ppt/slideLayouts/slideLayout3.xml" Id="Rb5ea596c2c5d4b31" /><Relationship Type="http://schemas.openxmlformats.org/officeDocument/2006/relationships/slideLayout" Target="/ppt/slideLayouts/slideLayout4.xml" Id="Rff7b37b7937c43b5" /><Relationship Type="http://schemas.openxmlformats.org/officeDocument/2006/relationships/slideLayout" Target="/ppt/slideLayouts/slideLayout5.xml" Id="R9dccb49b04be4ef2" /><Relationship Type="http://schemas.openxmlformats.org/officeDocument/2006/relationships/slideLayout" Target="/ppt/slideLayouts/slideLayout6.xml" Id="R257f4c878eb84e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45e84b9cd34414"/>
    <p:sldLayoutId xmlns:r="http://schemas.openxmlformats.org/officeDocument/2006/relationships" id="2147483650" r:id="Rdb1c19db08fe4570"/>
    <p:sldLayoutId xmlns:r="http://schemas.openxmlformats.org/officeDocument/2006/relationships" id="2147483651" r:id="Rb5ea596c2c5d4b31"/>
    <p:sldLayoutId xmlns:r="http://schemas.openxmlformats.org/officeDocument/2006/relationships" id="2147483652" r:id="Rff7b37b7937c43b5"/>
    <p:sldLayoutId xmlns:r="http://schemas.openxmlformats.org/officeDocument/2006/relationships" id="2147483653" r:id="R9dccb49b04be4ef2"/>
    <p:sldLayoutId xmlns:r="http://schemas.openxmlformats.org/officeDocument/2006/relationships" id="2147483654" r:id="R257f4c878eb84e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88a4889404ae1" /><Relationship Type="http://schemas.openxmlformats.org/officeDocument/2006/relationships/notesSlide" Target="/ppt/notesSlides/notesSlide1.xml" Id="R1897bb15ec2a4b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77205afda44e7" /><Relationship Type="http://schemas.openxmlformats.org/officeDocument/2006/relationships/image" Target="/ppt/media/image.jpeg" Id="R2eed4253243f4a39" /><Relationship Type="http://schemas.openxmlformats.org/officeDocument/2006/relationships/image" Target="/ppt/media/image2.jpeg" Id="R1cd8148c7c354437" /><Relationship Type="http://schemas.openxmlformats.org/officeDocument/2006/relationships/image" Target="/ppt/media/image3.jpeg" Id="Ra7915d60c7134d8c" /><Relationship Type="http://schemas.openxmlformats.org/officeDocument/2006/relationships/image" Target="/ppt/media/image4.jpeg" Id="R98345be89e47460c" /><Relationship Type="http://schemas.openxmlformats.org/officeDocument/2006/relationships/image" Target="/ppt/media/image.png" Id="R2d4cb424b8e24127" /><Relationship Type="http://schemas.openxmlformats.org/officeDocument/2006/relationships/notesSlide" Target="/ppt/notesSlides/notesSlide2.xml" Id="R34a8fc432a3f46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33383d65548a9" /><Relationship Type="http://schemas.openxmlformats.org/officeDocument/2006/relationships/image" Target="/ppt/media/image2.png" Id="R212b5b6a42784edd" /><Relationship Type="http://schemas.openxmlformats.org/officeDocument/2006/relationships/notesSlide" Target="/ppt/notesSlides/notesSlide3.xml" Id="R90dab9c9f5704b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c6e5c20114886" /><Relationship Type="http://schemas.openxmlformats.org/officeDocument/2006/relationships/image" Target="/ppt/media/image3.png" Id="Rf2d06c15bc1248ca" /><Relationship Type="http://schemas.openxmlformats.org/officeDocument/2006/relationships/notesSlide" Target="/ppt/notesSlides/notesSlide4.xml" Id="Rc0574ec1f2dd45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80e5e59b44620" /><Relationship Type="http://schemas.openxmlformats.org/officeDocument/2006/relationships/notesSlide" Target="/ppt/notesSlides/notesSlide5.xml" Id="R45a8b00a8d0940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1aaedc19a4d99" /><Relationship Type="http://schemas.openxmlformats.org/officeDocument/2006/relationships/chart" Target="/ppt/slides/charts/chart1.xml" Id="R02fa543d6b7e4ea4" /><Relationship Type="http://schemas.openxmlformats.org/officeDocument/2006/relationships/notesSlide" Target="/ppt/notesSlides/notesSlide6.xml" Id="R610437f72c3844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031daec6b4c73" /><Relationship Type="http://schemas.openxmlformats.org/officeDocument/2006/relationships/notesSlide" Target="/ppt/notesSlides/notesSlide7.xml" Id="R77c10f8f2d704e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b1a2c1a0a4ca2" /><Relationship Type="http://schemas.openxmlformats.org/officeDocument/2006/relationships/notesSlide" Target="/ppt/notesSlides/notesSlide8.xml" Id="Re5dbb5bc750c4c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ec98984644292" /><Relationship Type="http://schemas.openxmlformats.org/officeDocument/2006/relationships/notesSlide" Target="/ppt/notesSlides/notesSlide9.xml" Id="Rcd4b74277eb34b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9fe76981b4089" /><Relationship Type="http://schemas.openxmlformats.org/officeDocument/2006/relationships/notesSlide" Target="/ppt/notesSlides/notesSlide10.xml" Id="Rad7a37d4283545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ea652451b4152" /><Relationship Type="http://schemas.openxmlformats.org/officeDocument/2006/relationships/notesSlide" Target="/ppt/notesSlides/notesSlide11.xml" Id="Re21f7a80b9b34de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Pruebas</c:v>
          </c:tx>
          <c:spPr>
            <a:solidFill xmlns:a="http://schemas.openxmlformats.org/drawingml/2006/main">
              <a:srgbClr val="D66A3A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Identity</c:v>
                </c:pt>
                <c:pt idx="1">
                  <c:v>Notifications</c:v>
                </c:pt>
                <c:pt idx="2">
                  <c:v>Session</c:v>
                </c:pt>
                <c:pt idx="3">
                  <c:v>Live Coach</c:v>
                </c:pt>
                <c:pt idx="4">
                  <c:v>Filler</c:v>
                </c:pt>
                <c:pt idx="5">
                  <c:v>Scoring</c:v>
                </c:pt>
                <c:pt idx="6">
                  <c:v>Progress</c:v>
                </c:pt>
                <c:pt idx="7">
                  <c:v>Gamification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16</c:v>
                </c:pt>
                <c:pt idx="1">
                  <c:v>7</c:v>
                </c:pt>
                <c:pt idx="2">
                  <c:v>30</c:v>
                </c:pt>
                <c:pt idx="3">
                  <c:v>14</c:v>
                </c:pt>
                <c:pt idx="4">
                  <c:v>11</c:v>
                </c:pt>
                <c:pt idx="5">
                  <c:v>33</c:v>
                </c:pt>
                <c:pt idx="6">
                  <c:v>9</c:v>
                </c:pt>
                <c:pt idx="7">
                  <c:v>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lki">
            <a:extLst xmlns:a="http://schemas.openxmlformats.org/drawingml/2006/main">
              <a:ext uri="{FF2B5EF4-FFF2-40B4-BE49-F238E27FC236}">
                <a16:creationId xmlns:a16="http://schemas.microsoft.com/office/drawing/2014/main" id="{BBF663F2-9615-4AE3-ADBE-38B9362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Talki</a:t>
            </a:r>
          </a:p>
        </p:txBody>
      </p:sp>
      <p:sp>
        <p:nvSpPr>
          <p:cNvPr id="2" name="TB2 · Implementación y validació">
            <a:extLst xmlns:a="http://schemas.openxmlformats.org/drawingml/2006/main">
              <a:ext uri="{FF2B5EF4-FFF2-40B4-BE49-F238E27FC236}">
                <a16:creationId xmlns:a16="http://schemas.microsoft.com/office/drawing/2014/main" id="{3E7B6A78-ACBC-4182-B6A2-CDA76295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TB2 · Implementación y validación</a:t>
            </a:r>
          </a:p>
        </p:txBody>
      </p:sp>
      <p:sp>
        <p:nvSpPr>
          <p:cNvPr id="3" name="Thropic · Arquitecturas de Softw">
            <a:extLst xmlns:a="http://schemas.openxmlformats.org/drawingml/2006/main">
              <a:ext uri="{FF2B5EF4-FFF2-40B4-BE49-F238E27FC236}">
                <a16:creationId xmlns:a16="http://schemas.microsoft.com/office/drawing/2014/main" id="{12A78FA8-AC75-48B5-986F-D38BFA60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Thropic · Arquitecturas de Software Emergentes</a:t>
            </a:r>
          </a:p>
        </p:txBody>
      </p:sp>
      <p:sp>
        <p:nvSpPr>
          <p:cNvPr id="4" name="202620 · NRC 16365 · 30 de octub">
            <a:extLst xmlns:a="http://schemas.openxmlformats.org/drawingml/2006/main">
              <a:ext uri="{FF2B5EF4-FFF2-40B4-BE49-F238E27FC236}">
                <a16:creationId xmlns:a16="http://schemas.microsoft.com/office/drawing/2014/main" id="{63CDD660-041A-40D9-8186-C911FF37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202620 · NRC 16365 · 30 de octubre de 2026</a:t>
            </a:r>
          </a:p>
        </p:txBody>
      </p:sp>
      <p:sp>
        <p:nvSpPr>
          <p:cNvPr id="5" name="Avance con evidencias y pendient">
            <a:extLst xmlns:a="http://schemas.openxmlformats.org/drawingml/2006/main">
              <a:ext uri="{FF2B5EF4-FFF2-40B4-BE49-F238E27FC236}">
                <a16:creationId xmlns:a16="http://schemas.microsoft.com/office/drawing/2014/main" id="{0323F5F4-7841-499D-82C7-EB988392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66A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6A3A"/>
                </a:solidFill>
                <a:latin typeface="Arial"/>
                <a:ea typeface="Arial"/>
                <a:cs typeface="Arial"/>
              </a:rPr>
              <a:t>Avance con evidencias y pendientes identificados</a:t>
            </a:r>
          </a:p>
        </p:txBody>
      </p:sp>
    </p:spTree>
    <p:extLst>
      <p:ext uri="{BB962C8B-B14F-4D97-AF65-F5344CB8AC3E}">
        <p14:creationId xmlns:p14="http://schemas.microsoft.com/office/powerpoint/2010/main" val="1951554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quipo Thropic">
            <a:extLst xmlns:a="http://schemas.openxmlformats.org/drawingml/2006/main">
              <a:ext uri="{FF2B5EF4-FFF2-40B4-BE49-F238E27FC236}">
                <a16:creationId xmlns:a16="http://schemas.microsoft.com/office/drawing/2014/main" id="{26DA8C11-6EC9-46C3-B81C-3F9218F2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Equipo Thropic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1A581-EFEC-4A4C-A375-41B6708ACF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d4253243f4a39"/>
          <a:stretch xmlns:a="http://schemas.openxmlformats.org/drawingml/2006/main"/>
        </p:blipFill>
        <p:spPr>
          <a:xfrm xmlns:a="http://schemas.openxmlformats.org/drawingml/2006/main">
            <a:off x="533400" y="171450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3" name="Alejandro Daniel&#10;Oroncoy Almeyda">
            <a:extLst xmlns:a="http://schemas.openxmlformats.org/drawingml/2006/main">
              <a:ext uri="{FF2B5EF4-FFF2-40B4-BE49-F238E27FC236}">
                <a16:creationId xmlns:a16="http://schemas.microsoft.com/office/drawing/2014/main" id="{93C58136-906A-4007-B79A-6E7EDC21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Alejandro Daniel</a:t>
            </a:r>
          </a:p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Oroncoy Almeyda</a:t>
            </a:r>
          </a:p>
        </p:txBody>
      </p:sp>
      <p:sp>
        <p:nvSpPr>
          <p:cNvPr id="4" name="U202313397">
            <a:extLst xmlns:a="http://schemas.openxmlformats.org/drawingml/2006/main">
              <a:ext uri="{FF2B5EF4-FFF2-40B4-BE49-F238E27FC236}">
                <a16:creationId xmlns:a16="http://schemas.microsoft.com/office/drawing/2014/main" id="{49DE9079-E692-43B6-9359-E9242DB2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U202313397</a:t>
            </a:r>
          </a:p>
        </p:txBody>
      </p:sp>
      <p:sp>
        <p:nvSpPr>
          <p:cNvPr id="5" name="Ingeniería de&#10;Software">
            <a:extLst xmlns:a="http://schemas.openxmlformats.org/drawingml/2006/main">
              <a:ext uri="{FF2B5EF4-FFF2-40B4-BE49-F238E27FC236}">
                <a16:creationId xmlns:a16="http://schemas.microsoft.com/office/drawing/2014/main" id="{D8679D43-F043-4036-8D81-CE2D9F2D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Ingeniería de</a:t>
            </a:r>
          </a:p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8D186-57E3-457F-8BD8-26BAEFA419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8148c7c354437"/>
          <a:stretch xmlns:a="http://schemas.openxmlformats.org/drawingml/2006/main"/>
        </p:blipFill>
        <p:spPr>
          <a:xfrm xmlns:a="http://schemas.openxmlformats.org/drawingml/2006/main">
            <a:off x="2998834" y="1571625"/>
            <a:ext cx="1831881" cy="2381250"/>
          </a:xfrm>
          <a:prstGeom xmlns:a="http://schemas.openxmlformats.org/drawingml/2006/main" prst="rect">
            <a:avLst/>
          </a:prstGeom>
        </p:spPr>
      </p:pic>
      <p:sp>
        <p:nvSpPr>
          <p:cNvPr id="7" name="Eduardo Gael&#10;Rivera Sosa">
            <a:extLst xmlns:a="http://schemas.openxmlformats.org/drawingml/2006/main">
              <a:ext uri="{FF2B5EF4-FFF2-40B4-BE49-F238E27FC236}">
                <a16:creationId xmlns:a16="http://schemas.microsoft.com/office/drawing/2014/main" id="{3B062376-5D4B-4EFE-A436-BAAF07BB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4337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Eduardo Gael</a:t>
            </a:r>
          </a:p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Rivera Sosa</a:t>
            </a:r>
          </a:p>
        </p:txBody>
      </p:sp>
      <p:sp>
        <p:nvSpPr>
          <p:cNvPr id="8" name="U202312222">
            <a:extLst xmlns:a="http://schemas.openxmlformats.org/drawingml/2006/main">
              <a:ext uri="{FF2B5EF4-FFF2-40B4-BE49-F238E27FC236}">
                <a16:creationId xmlns:a16="http://schemas.microsoft.com/office/drawing/2014/main" id="{BA91B11A-E2EC-4816-AA6F-2B472982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09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U202312222</a:t>
            </a:r>
          </a:p>
        </p:txBody>
      </p:sp>
      <p:sp>
        <p:nvSpPr>
          <p:cNvPr id="9" name="Ingeniería de&#10;Software">
            <a:extLst xmlns:a="http://schemas.openxmlformats.org/drawingml/2006/main">
              <a:ext uri="{FF2B5EF4-FFF2-40B4-BE49-F238E27FC236}">
                <a16:creationId xmlns:a16="http://schemas.microsoft.com/office/drawing/2014/main" id="{193564DB-1761-4B8D-8A2E-8575718C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5626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Ingeniería de</a:t>
            </a:r>
          </a:p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05541-D508-4F29-8892-6D1FBB42A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15d60c7134d8c"/>
          <a:stretch xmlns:a="http://schemas.openxmlformats.org/drawingml/2006/main"/>
        </p:blipFill>
        <p:spPr>
          <a:xfrm xmlns:a="http://schemas.openxmlformats.org/drawingml/2006/main">
            <a:off x="5329574" y="1571625"/>
            <a:ext cx="1837652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Manuel&#10;Ignacio Tumi&#10;Oliden">
            <a:extLst xmlns:a="http://schemas.openxmlformats.org/drawingml/2006/main">
              <a:ext uri="{FF2B5EF4-FFF2-40B4-BE49-F238E27FC236}">
                <a16:creationId xmlns:a16="http://schemas.microsoft.com/office/drawing/2014/main" id="{EEAF931C-AE1C-489A-B1C8-292C2466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4337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Manuel</a:t>
            </a:r>
          </a:p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Ignacio Tumi</a:t>
            </a:r>
          </a:p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Oliden</a:t>
            </a:r>
          </a:p>
        </p:txBody>
      </p:sp>
      <p:sp>
        <p:nvSpPr>
          <p:cNvPr id="12" name="U20241C134">
            <a:extLst xmlns:a="http://schemas.openxmlformats.org/drawingml/2006/main">
              <a:ext uri="{FF2B5EF4-FFF2-40B4-BE49-F238E27FC236}">
                <a16:creationId xmlns:a16="http://schemas.microsoft.com/office/drawing/2014/main" id="{99A7DA31-BE55-4DBB-922C-67D4DE45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9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U20241C134</a:t>
            </a:r>
          </a:p>
        </p:txBody>
      </p:sp>
      <p:sp>
        <p:nvSpPr>
          <p:cNvPr id="13" name="Ingeniería de&#10;Software">
            <a:extLst xmlns:a="http://schemas.openxmlformats.org/drawingml/2006/main">
              <a:ext uri="{FF2B5EF4-FFF2-40B4-BE49-F238E27FC236}">
                <a16:creationId xmlns:a16="http://schemas.microsoft.com/office/drawing/2014/main" id="{6D66B276-C749-4207-83E9-1DDBF828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5626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Ingeniería de</a:t>
            </a:r>
          </a:p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88121-4066-4C05-95C5-2DE9B011E8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45be89e47460c"/>
          <a:stretch xmlns:a="http://schemas.openxmlformats.org/drawingml/2006/main"/>
        </p:blipFill>
        <p:spPr>
          <a:xfrm xmlns:a="http://schemas.openxmlformats.org/drawingml/2006/main">
            <a:off x="7534275" y="171450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15" name="Werner Khalil&#10;Lang Nassi">
            <a:extLst xmlns:a="http://schemas.openxmlformats.org/drawingml/2006/main">
              <a:ext uri="{FF2B5EF4-FFF2-40B4-BE49-F238E27FC236}">
                <a16:creationId xmlns:a16="http://schemas.microsoft.com/office/drawing/2014/main" id="{DFA35B5B-C9A5-4DCA-8D6C-CA6F252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14337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Werner Khalil</a:t>
            </a:r>
          </a:p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Lang Nassi</a:t>
            </a:r>
          </a:p>
        </p:txBody>
      </p:sp>
      <p:sp>
        <p:nvSpPr>
          <p:cNvPr id="16" name="U202310003">
            <a:extLst xmlns:a="http://schemas.openxmlformats.org/drawingml/2006/main">
              <a:ext uri="{FF2B5EF4-FFF2-40B4-BE49-F238E27FC236}">
                <a16:creationId xmlns:a16="http://schemas.microsoft.com/office/drawing/2014/main" id="{5E421EE8-6826-4FAE-B264-63930329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09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U202310003</a:t>
            </a:r>
          </a:p>
        </p:txBody>
      </p:sp>
      <p:sp>
        <p:nvSpPr>
          <p:cNvPr id="17" name="Ingeniería de&#10;Software">
            <a:extLst xmlns:a="http://schemas.openxmlformats.org/drawingml/2006/main">
              <a:ext uri="{FF2B5EF4-FFF2-40B4-BE49-F238E27FC236}">
                <a16:creationId xmlns:a16="http://schemas.microsoft.com/office/drawing/2014/main" id="{F6F8F42D-AB26-49A5-8240-99854133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5626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Ingeniería de</a:t>
            </a:r>
          </a:p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AD3D6-A1A4-4ACB-9552-6C4E48404E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cb424b8e24127"/>
          <a:stretch xmlns:a="http://schemas.openxmlformats.org/drawingml/2006/main"/>
        </p:blipFill>
        <p:spPr>
          <a:xfrm xmlns:a="http://schemas.openxmlformats.org/drawingml/2006/main">
            <a:off x="9983857" y="1571625"/>
            <a:ext cx="1863587" cy="2381250"/>
          </a:xfrm>
          <a:prstGeom xmlns:a="http://schemas.openxmlformats.org/drawingml/2006/main" prst="rect">
            <a:avLst/>
          </a:prstGeom>
        </p:spPr>
      </p:pic>
      <p:sp>
        <p:nvSpPr>
          <p:cNvPr id="19" name="Kevin Jorge&#10;Chi Cruzatt">
            <a:extLst xmlns:a="http://schemas.openxmlformats.org/drawingml/2006/main">
              <a:ext uri="{FF2B5EF4-FFF2-40B4-BE49-F238E27FC236}">
                <a16:creationId xmlns:a16="http://schemas.microsoft.com/office/drawing/2014/main" id="{FC79E055-91E2-4321-98A5-5C075C41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4337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Kevin Jorge</a:t>
            </a:r>
          </a:p>
          <a:p xmlns:a="http://schemas.openxmlformats.org/drawingml/2006/main">
            <a:pPr>
              <a:defRPr sz="1875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Chi Cruzatt</a:t>
            </a:r>
          </a:p>
        </p:txBody>
      </p:sp>
      <p:sp>
        <p:nvSpPr>
          <p:cNvPr id="20" name="U202313655">
            <a:extLst xmlns:a="http://schemas.openxmlformats.org/drawingml/2006/main">
              <a:ext uri="{FF2B5EF4-FFF2-40B4-BE49-F238E27FC236}">
                <a16:creationId xmlns:a16="http://schemas.microsoft.com/office/drawing/2014/main" id="{98237A64-B49D-421B-A1F6-E8079A1B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09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U202313655</a:t>
            </a:r>
          </a:p>
        </p:txBody>
      </p:sp>
      <p:sp>
        <p:nvSpPr>
          <p:cNvPr id="21" name="Ingeniería de&#10;Software">
            <a:extLst xmlns:a="http://schemas.openxmlformats.org/drawingml/2006/main">
              <a:ext uri="{FF2B5EF4-FFF2-40B4-BE49-F238E27FC236}">
                <a16:creationId xmlns:a16="http://schemas.microsoft.com/office/drawing/2014/main" id="{2761AB13-2F0A-4192-94DC-72CCB9A8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5626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Ingeniería de</a:t>
            </a:r>
          </a:p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1671024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áctica de comunicación oral">
            <a:extLst xmlns:a="http://schemas.openxmlformats.org/drawingml/2006/main">
              <a:ext uri="{FF2B5EF4-FFF2-40B4-BE49-F238E27FC236}">
                <a16:creationId xmlns:a16="http://schemas.microsoft.com/office/drawing/2014/main" id="{948EE7CA-0E21-4540-AE1B-E30F0FA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Práctica de comunicación oral</a:t>
            </a:r>
          </a:p>
        </p:txBody>
      </p:sp>
      <p:sp>
        <p:nvSpPr>
          <p:cNvPr id="2" name="Ciclos iniciales">
            <a:extLst xmlns:a="http://schemas.openxmlformats.org/drawingml/2006/main">
              <a:ext uri="{FF2B5EF4-FFF2-40B4-BE49-F238E27FC236}">
                <a16:creationId xmlns:a16="http://schemas.microsoft.com/office/drawing/2014/main" id="{2105012B-C7A9-4309-8EA5-DFBDCA6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95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Ciclos iniciales</a:t>
            </a:r>
          </a:p>
        </p:txBody>
      </p:sp>
      <p:sp>
        <p:nvSpPr>
          <p:cNvPr id="3" name="Ensayo guiado y comprensión del ">
            <a:extLst xmlns:a="http://schemas.openxmlformats.org/drawingml/2006/main">
              <a:ext uri="{FF2B5EF4-FFF2-40B4-BE49-F238E27FC236}">
                <a16:creationId xmlns:a16="http://schemas.microsoft.com/office/drawing/2014/main" id="{437DE2DF-AE39-4389-BFE1-AA244321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Ensayo guiado y comprensión del feedback.</a:t>
            </a:r>
          </a:p>
        </p:txBody>
      </p:sp>
      <p:sp>
        <p:nvSpPr>
          <p:cNvPr id="4" name="Ciclos superiores">
            <a:extLst xmlns:a="http://schemas.openxmlformats.org/drawingml/2006/main">
              <a:ext uri="{FF2B5EF4-FFF2-40B4-BE49-F238E27FC236}">
                <a16:creationId xmlns:a16="http://schemas.microsoft.com/office/drawing/2014/main" id="{85EC98D1-2597-446B-BD01-754EE82E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395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Ciclos superiores</a:t>
            </a:r>
          </a:p>
        </p:txBody>
      </p:sp>
      <p:sp>
        <p:nvSpPr>
          <p:cNvPr id="5" name="Preparación de entrevistas y sus">
            <a:extLst xmlns:a="http://schemas.openxmlformats.org/drawingml/2006/main">
              <a:ext uri="{FF2B5EF4-FFF2-40B4-BE49-F238E27FC236}">
                <a16:creationId xmlns:a16="http://schemas.microsoft.com/office/drawing/2014/main" id="{F1EDF231-23CA-4112-9194-2CBDB0F1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Preparación de entrevistas y sustentaciones.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70B50-B649-4770-A47E-0EBE781E8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b5b6a42784edd"/>
          <a:stretch xmlns:a="http://schemas.openxmlformats.org/drawingml/2006/main"/>
        </p:blipFill>
        <p:spPr>
          <a:xfrm xmlns:a="http://schemas.openxmlformats.org/drawingml/2006/main">
            <a:off x="7412222" y="1485900"/>
            <a:ext cx="1958606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Prototipo UX con datos de ejempl">
            <a:extLst xmlns:a="http://schemas.openxmlformats.org/drawingml/2006/main">
              <a:ext uri="{FF2B5EF4-FFF2-40B4-BE49-F238E27FC236}">
                <a16:creationId xmlns:a16="http://schemas.microsoft.com/office/drawing/2014/main" id="{660A9796-D357-447B-87A2-F1D892F6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9721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Prototipo UX con datos de ejemplo</a:t>
            </a:r>
          </a:p>
        </p:txBody>
      </p:sp>
    </p:spTree>
    <p:extLst>
      <p:ext uri="{BB962C8B-B14F-4D97-AF65-F5344CB8AC3E}">
        <p14:creationId xmlns:p14="http://schemas.microsoft.com/office/powerpoint/2010/main" val="1482122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rquitectura y límites del incre">
            <a:extLst xmlns:a="http://schemas.openxmlformats.org/drawingml/2006/main">
              <a:ext uri="{FF2B5EF4-FFF2-40B4-BE49-F238E27FC236}">
                <a16:creationId xmlns:a16="http://schemas.microsoft.com/office/drawing/2014/main" id="{6E13EDC4-2EC3-4B8A-9368-738B6D01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Arquitectura y límites del incremento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2AB2C-40F1-4BED-BF27-D00521DC36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06c15bc1248ca"/>
          <a:stretch xmlns:a="http://schemas.openxmlformats.org/drawingml/2006/main"/>
        </p:blipFill>
        <p:spPr>
          <a:xfrm xmlns:a="http://schemas.openxmlformats.org/drawingml/2006/main">
            <a:off x="2856046" y="1333500"/>
            <a:ext cx="3127107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10 contextos en el diseño&#10;&#10;8 ser">
            <a:extLst xmlns:a="http://schemas.openxmlformats.org/drawingml/2006/main">
              <a:ext uri="{FF2B5EF4-FFF2-40B4-BE49-F238E27FC236}">
                <a16:creationId xmlns:a16="http://schemas.microsoft.com/office/drawing/2014/main" id="{5D3C1890-C254-4671-9F7E-3C771778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76400"/>
            <a:ext cx="304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10 contextos en el diseño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8 servicios en la 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Privacidad y retención:</a:t>
            </a:r>
          </a:p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implementación por cerrar</a:t>
            </a:r>
          </a:p>
        </p:txBody>
      </p:sp>
      <p:sp>
        <p:nvSpPr>
          <p:cNvPr id="4" name="Diseño objetivo y código reutili">
            <a:extLst xmlns:a="http://schemas.openxmlformats.org/drawingml/2006/main">
              <a:ext uri="{FF2B5EF4-FFF2-40B4-BE49-F238E27FC236}">
                <a16:creationId xmlns:a16="http://schemas.microsoft.com/office/drawing/2014/main" id="{423AFA88-3781-42DB-BD8D-3DE22780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Diseño objetivo y código reutilizado tienen alcances distintos</a:t>
            </a:r>
          </a:p>
        </p:txBody>
      </p:sp>
    </p:spTree>
    <p:extLst>
      <p:ext uri="{BB962C8B-B14F-4D97-AF65-F5344CB8AC3E}">
        <p14:creationId xmlns:p14="http://schemas.microsoft.com/office/powerpoint/2010/main" val="1218722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ódigo y configuración">
            <a:extLst xmlns:a="http://schemas.openxmlformats.org/drawingml/2006/main">
              <a:ext uri="{FF2B5EF4-FFF2-40B4-BE49-F238E27FC236}">
                <a16:creationId xmlns:a16="http://schemas.microsoft.com/office/drawing/2014/main" id="{D6718951-BC6C-42B1-A014-43D81EE7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Código y configuración</a:t>
            </a:r>
          </a:p>
        </p:txBody>
      </p:sp>
      <p:sp>
        <p:nvSpPr>
          <p:cNvPr id="2" name="Cinco instantáneas de repositori">
            <a:extLst xmlns:a="http://schemas.openxmlformats.org/drawingml/2006/main">
              <a:ext uri="{FF2B5EF4-FFF2-40B4-BE49-F238E27FC236}">
                <a16:creationId xmlns:a16="http://schemas.microsoft.com/office/drawing/2014/main" id="{D617F728-2DCC-4CE3-A211-190C4535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Cinco instantáneas de repositorios con SHA y procedencia</a:t>
            </a:r>
          </a:p>
        </p:txBody>
      </p:sp>
      <p:sp>
        <p:nvSpPr>
          <p:cNvPr id="3" name="Java 17 · Spring Boot 3.2.5 · Ra">
            <a:extLst xmlns:a="http://schemas.openxmlformats.org/drawingml/2006/main">
              <a:ext uri="{FF2B5EF4-FFF2-40B4-BE49-F238E27FC236}">
                <a16:creationId xmlns:a16="http://schemas.microsoft.com/office/drawing/2014/main" id="{2C85ED9A-4B85-47B2-85BC-60CAD188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Java 17 · Spring Boot 3.2.5 · RabbitMQ · H2 local</a:t>
            </a:r>
          </a:p>
        </p:txBody>
      </p:sp>
      <p:sp>
        <p:nvSpPr>
          <p:cNvPr id="4" name="Cliente heredado: Next.js 16.2.9">
            <a:extLst xmlns:a="http://schemas.openxmlformats.org/drawingml/2006/main">
              <a:ext uri="{FF2B5EF4-FFF2-40B4-BE49-F238E27FC236}">
                <a16:creationId xmlns:a16="http://schemas.microsoft.com/office/drawing/2014/main" id="{16D2B2D6-63FA-47EE-9F5C-EA40F1BE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Cliente heredado: Next.js 16.2.9 con BFF</a:t>
            </a:r>
          </a:p>
        </p:txBody>
      </p:sp>
      <p:sp>
        <p:nvSpPr>
          <p:cNvPr id="5" name="Pendiente: adecuar cliente a Ang">
            <a:extLst xmlns:a="http://schemas.openxmlformats.org/drawingml/2006/main">
              <a:ext uri="{FF2B5EF4-FFF2-40B4-BE49-F238E27FC236}">
                <a16:creationId xmlns:a16="http://schemas.microsoft.com/office/drawing/2014/main" id="{C5B6ECE4-D61F-4036-A9C5-82FB5BC2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Pendiente: adecuar cliente a Angular/Vue o autorización docente</a:t>
            </a:r>
          </a:p>
        </p:txBody>
      </p:sp>
    </p:spTree>
    <p:extLst>
      <p:ext uri="{BB962C8B-B14F-4D97-AF65-F5344CB8AC3E}">
        <p14:creationId xmlns:p14="http://schemas.microsoft.com/office/powerpoint/2010/main" val="887710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133 pruebas unitarias aprobadas">
            <a:extLst xmlns:a="http://schemas.openxmlformats.org/drawingml/2006/main">
              <a:ext uri="{FF2B5EF4-FFF2-40B4-BE49-F238E27FC236}">
                <a16:creationId xmlns:a16="http://schemas.microsoft.com/office/drawing/2014/main" id="{2C59F5D1-67EF-4B37-B9C1-4D9381A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133 pruebas unitarias aprobadas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C8A84A4D-A9C1-4AC8-8E08-4D496590950B}"/>
              </a:ext>
            </a:extLst>
          </p:cNvPr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57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fa543d6b7e4ea4"/>
          </a:graphicData>
        </a:graphic>
      </p:graphicFrame>
      <p:sp>
        <p:nvSpPr>
          <p:cNvPr id="3" name="0 fallos · 0 errores · 0 omitida">
            <a:extLst xmlns:a="http://schemas.openxmlformats.org/drawingml/2006/main">
              <a:ext uri="{FF2B5EF4-FFF2-40B4-BE49-F238E27FC236}">
                <a16:creationId xmlns:a16="http://schemas.microsoft.com/office/drawing/2014/main" id="{9CEDBAF2-9CA6-47A3-9D4E-5BC1CC4B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0 fallos · 0 errores · 0 omitidas</a:t>
            </a:r>
          </a:p>
        </p:txBody>
      </p:sp>
      <p:sp>
        <p:nvSpPr>
          <p:cNvPr id="4" name="Aceptación BDD y recorrido integ">
            <a:extLst xmlns:a="http://schemas.openxmlformats.org/drawingml/2006/main">
              <a:ext uri="{FF2B5EF4-FFF2-40B4-BE49-F238E27FC236}">
                <a16:creationId xmlns:a16="http://schemas.microsoft.com/office/drawing/2014/main" id="{95B4B804-0397-4B8E-89ED-2318E486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Aceptación BDD y recorrido integrado: pendientes de cierre</a:t>
            </a:r>
          </a:p>
        </p:txBody>
      </p:sp>
    </p:spTree>
    <p:extLst>
      <p:ext uri="{BB962C8B-B14F-4D97-AF65-F5344CB8AC3E}">
        <p14:creationId xmlns:p14="http://schemas.microsoft.com/office/powerpoint/2010/main" val="1720708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jecución local y contratos">
            <a:extLst xmlns:a="http://schemas.openxmlformats.org/drawingml/2006/main">
              <a:ext uri="{FF2B5EF4-FFF2-40B4-BE49-F238E27FC236}">
                <a16:creationId xmlns:a16="http://schemas.microsoft.com/office/drawing/2014/main" id="{EEE264AB-7430-4E8C-872F-6D826C7E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Ejecución local y contratos</a:t>
            </a:r>
          </a:p>
        </p:txBody>
      </p:sp>
      <p:sp>
        <p:nvSpPr>
          <p:cNvPr id="2" name="OpenAPI: 8 servicios disponibles">
            <a:extLst xmlns:a="http://schemas.openxmlformats.org/drawingml/2006/main">
              <a:ext uri="{FF2B5EF4-FFF2-40B4-BE49-F238E27FC236}">
                <a16:creationId xmlns:a16="http://schemas.microsoft.com/office/drawing/2014/main" id="{F7DEEC9E-FBD5-43A4-B484-45355C84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OpenAPI: 8 servicios disponibles en el ambiente local</a:t>
            </a:r>
          </a:p>
        </p:txBody>
      </p:sp>
      <p:sp>
        <p:nvSpPr>
          <p:cNvPr id="3" name="Registro 201 · login 200 · creac">
            <a:extLst xmlns:a="http://schemas.openxmlformats.org/drawingml/2006/main">
              <a:ext uri="{FF2B5EF4-FFF2-40B4-BE49-F238E27FC236}">
                <a16:creationId xmlns:a16="http://schemas.microsoft.com/office/drawing/2014/main" id="{1FE8E21A-3C40-439D-8B9F-53A25D5A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Registro 201 · login 200 · creación 201 · consulta 200</a:t>
            </a:r>
          </a:p>
        </p:txBody>
      </p:sp>
      <p:sp>
        <p:nvSpPr>
          <p:cNvPr id="4" name="Finalizar desde DRAFT: HTTP 500;">
            <a:extLst xmlns:a="http://schemas.openxmlformats.org/drawingml/2006/main">
              <a:ext uri="{FF2B5EF4-FFF2-40B4-BE49-F238E27FC236}">
                <a16:creationId xmlns:a16="http://schemas.microsoft.com/office/drawing/2014/main" id="{ACAD3FE1-1367-49A3-9AF0-E0421608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Finalizar desde DRAFT: HTTP 500; resolver transición y error</a:t>
            </a:r>
          </a:p>
        </p:txBody>
      </p:sp>
      <p:sp>
        <p:nvSpPr>
          <p:cNvPr id="5" name="Gemini sin clave: HTTP 503 esper">
            <a:extLst xmlns:a="http://schemas.openxmlformats.org/drawingml/2006/main">
              <a:ext uri="{FF2B5EF4-FFF2-40B4-BE49-F238E27FC236}">
                <a16:creationId xmlns:a16="http://schemas.microsoft.com/office/drawing/2014/main" id="{6E25452E-784C-4E11-AE3B-47E705EF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Gemini sin clave: HTTP 503 esperado; voz real pendiente</a:t>
            </a:r>
          </a:p>
        </p:txBody>
      </p:sp>
    </p:spTree>
    <p:extLst>
      <p:ext uri="{BB962C8B-B14F-4D97-AF65-F5344CB8AC3E}">
        <p14:creationId xmlns:p14="http://schemas.microsoft.com/office/powerpoint/2010/main" val="9374394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spliegue pendiente de recupera">
            <a:extLst xmlns:a="http://schemas.openxmlformats.org/drawingml/2006/main">
              <a:ext uri="{FF2B5EF4-FFF2-40B4-BE49-F238E27FC236}">
                <a16:creationId xmlns:a16="http://schemas.microsoft.com/office/drawing/2014/main" id="{ADF54DDE-EEC7-4D3A-A191-65C3EE74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Despliegue pendiente de recuperación</a:t>
            </a:r>
          </a:p>
        </p:txBody>
      </p:sp>
      <p:sp>
        <p:nvSpPr>
          <p:cNvPr id="2" name="200">
            <a:extLst xmlns:a="http://schemas.openxmlformats.org/drawingml/2006/main">
              <a:ext uri="{FF2B5EF4-FFF2-40B4-BE49-F238E27FC236}">
                <a16:creationId xmlns:a16="http://schemas.microsoft.com/office/drawing/2014/main" id="{C1D2B53B-3258-4D78-9376-A866ED30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" name="Galería y prototipo UX públicos">
            <a:extLst xmlns:a="http://schemas.openxmlformats.org/drawingml/2006/main">
              <a:ext uri="{FF2B5EF4-FFF2-40B4-BE49-F238E27FC236}">
                <a16:creationId xmlns:a16="http://schemas.microsoft.com/office/drawing/2014/main" id="{522D1024-EBDF-4B49-9DDF-AC66E6C6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Galería y prototipo UX públicos</a:t>
            </a:r>
          </a:p>
        </p:txBody>
      </p:sp>
      <p:sp>
        <p:nvSpPr>
          <p:cNvPr id="4" name="402">
            <a:extLst xmlns:a="http://schemas.openxmlformats.org/drawingml/2006/main">
              <a:ext uri="{FF2B5EF4-FFF2-40B4-BE49-F238E27FC236}">
                <a16:creationId xmlns:a16="http://schemas.microsoft.com/office/drawing/2014/main" id="{5CE6A40D-5B42-4C18-8AB3-C02CF492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D66A3A"/>
                </a:solidFill>
                <a:latin typeface="Arial"/>
                <a:ea typeface="Arial"/>
                <a:cs typeface="Arial"/>
              </a:rPr>
              <a:t>402</a:t>
            </a:r>
          </a:p>
        </p:txBody>
      </p:sp>
      <p:sp>
        <p:nvSpPr>
          <p:cNvPr id="5" name="Cliente histórico en Vercel">
            <a:extLst xmlns:a="http://schemas.openxmlformats.org/drawingml/2006/main">
              <a:ext uri="{FF2B5EF4-FFF2-40B4-BE49-F238E27FC236}">
                <a16:creationId xmlns:a16="http://schemas.microsoft.com/office/drawing/2014/main" id="{F4469742-48A8-474F-AAEE-007D56B5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Cliente histórico en Vercel</a:t>
            </a:r>
          </a:p>
        </p:txBody>
      </p:sp>
      <p:sp>
        <p:nvSpPr>
          <p:cNvPr id="6" name="404">
            <a:extLst xmlns:a="http://schemas.openxmlformats.org/drawingml/2006/main">
              <a:ext uri="{FF2B5EF4-FFF2-40B4-BE49-F238E27FC236}">
                <a16:creationId xmlns:a16="http://schemas.microsoft.com/office/drawing/2014/main" id="{8EEA3E5B-D7AC-4CCD-BA0B-1C9FAC09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D66A3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D66A3A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7" name="16 rutas comprobadas en Railway">
            <a:extLst xmlns:a="http://schemas.openxmlformats.org/drawingml/2006/main">
              <a:ext uri="{FF2B5EF4-FFF2-40B4-BE49-F238E27FC236}">
                <a16:creationId xmlns:a16="http://schemas.microsoft.com/office/drawing/2014/main" id="{ED7DEB35-1B0C-427E-AAD0-763D9F9D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16 rutas comprobadas en Railway</a:t>
            </a:r>
          </a:p>
        </p:txBody>
      </p:sp>
      <p:sp>
        <p:nvSpPr>
          <p:cNvPr id="8" name="Se necesita una primera versión ">
            <a:extLst xmlns:a="http://schemas.openxmlformats.org/drawingml/2006/main">
              <a:ext uri="{FF2B5EF4-FFF2-40B4-BE49-F238E27FC236}">
                <a16:creationId xmlns:a16="http://schemas.microsoft.com/office/drawing/2014/main" id="{32CD246A-7738-4073-979C-DABA3187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 necesita una primera versión integrada y accesible para TB2</a:t>
            </a:r>
          </a:p>
        </p:txBody>
      </p:sp>
    </p:spTree>
    <p:extLst>
      <p:ext uri="{BB962C8B-B14F-4D97-AF65-F5344CB8AC3E}">
        <p14:creationId xmlns:p14="http://schemas.microsoft.com/office/powerpoint/2010/main" val="20232354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alidación con ambos segmentos">
            <a:extLst xmlns:a="http://schemas.openxmlformats.org/drawingml/2006/main">
              <a:ext uri="{FF2B5EF4-FFF2-40B4-BE49-F238E27FC236}">
                <a16:creationId xmlns:a16="http://schemas.microsoft.com/office/drawing/2014/main" id="{92B0972F-0B0A-40D1-BEC0-C39D1F8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Validación con ambos segmentos</a:t>
            </a:r>
          </a:p>
        </p:txBody>
      </p:sp>
      <p:sp>
        <p:nvSpPr>
          <p:cNvPr id="2" name="3–5 estudiantes por segmento; mí">
            <a:extLst xmlns:a="http://schemas.openxmlformats.org/drawingml/2006/main">
              <a:ext uri="{FF2B5EF4-FFF2-40B4-BE49-F238E27FC236}">
                <a16:creationId xmlns:a16="http://schemas.microsoft.com/office/drawing/2014/main" id="{AF379782-87E7-41B2-A669-D7E13FCA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3–5 estudiantes por segmento; mínimo 6 participantes</a:t>
            </a:r>
          </a:p>
        </p:txBody>
      </p:sp>
      <p:sp>
        <p:nvSpPr>
          <p:cNvPr id="3" name="Preparar práctica · comprender f">
            <a:extLst xmlns:a="http://schemas.openxmlformats.org/drawingml/2006/main">
              <a:ext uri="{FF2B5EF4-FFF2-40B4-BE49-F238E27FC236}">
                <a16:creationId xmlns:a16="http://schemas.microsoft.com/office/drawing/2014/main" id="{79C79733-4C0E-44D9-A0C5-C03BC9C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Preparar práctica · comprender feedback · gestionar datos</a:t>
            </a:r>
          </a:p>
        </p:txBody>
      </p:sp>
      <p:sp>
        <p:nvSpPr>
          <p:cNvPr id="4" name="Registrar éxito, tiempo, ayuda y">
            <a:extLst xmlns:a="http://schemas.openxmlformats.org/drawingml/2006/main">
              <a:ext uri="{FF2B5EF4-FFF2-40B4-BE49-F238E27FC236}">
                <a16:creationId xmlns:a16="http://schemas.microsoft.com/office/drawing/2014/main" id="{4D4B531B-4597-4138-A8B5-F8EDEC99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Registrar éxito, tiempo, ayuda y dificultades observadas</a:t>
            </a:r>
          </a:p>
        </p:txBody>
      </p:sp>
      <p:sp>
        <p:nvSpPr>
          <p:cNvPr id="5" name="Heurísticas: usabilidad, informa">
            <a:extLst xmlns:a="http://schemas.openxmlformats.org/drawingml/2006/main">
              <a:ext uri="{FF2B5EF4-FFF2-40B4-BE49-F238E27FC236}">
                <a16:creationId xmlns:a16="http://schemas.microsoft.com/office/drawing/2014/main" id="{EDEAB0F8-4100-40F1-965F-E39A5F8C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Heurísticas: usabilidad, información y diseño inclusivo</a:t>
            </a:r>
          </a:p>
        </p:txBody>
      </p:sp>
    </p:spTree>
    <p:extLst>
      <p:ext uri="{BB962C8B-B14F-4D97-AF65-F5344CB8AC3E}">
        <p14:creationId xmlns:p14="http://schemas.microsoft.com/office/powerpoint/2010/main" val="984488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rrecciones del parcial">
            <a:extLst xmlns:a="http://schemas.openxmlformats.org/drawingml/2006/main">
              <a:ext uri="{FF2B5EF4-FFF2-40B4-BE49-F238E27FC236}">
                <a16:creationId xmlns:a16="http://schemas.microsoft.com/office/drawing/2014/main" id="{86C13A26-2A25-4B19-B761-653FA469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Correcciones del parcial</a:t>
            </a:r>
          </a:p>
        </p:txBody>
      </p:sp>
      <p:sp>
        <p:nvSpPr>
          <p:cNvPr id="2" name="Registro: conservar autores real">
            <a:extLst xmlns:a="http://schemas.openxmlformats.org/drawingml/2006/main">
              <a:ext uri="{FF2B5EF4-FFF2-40B4-BE49-F238E27FC236}">
                <a16:creationId xmlns:a16="http://schemas.microsoft.com/office/drawing/2014/main" id="{52BCAEE2-8E0E-4B6A-9259-627F05ED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Registro: conservar autores reales y enlazar cada modificación</a:t>
            </a:r>
          </a:p>
        </p:txBody>
      </p:sp>
      <p:sp>
        <p:nvSpPr>
          <p:cNvPr id="3" name="Equipo: fotos, nombres, apellido">
            <a:extLst xmlns:a="http://schemas.openxmlformats.org/drawingml/2006/main">
              <a:ext uri="{FF2B5EF4-FFF2-40B4-BE49-F238E27FC236}">
                <a16:creationId xmlns:a16="http://schemas.microsoft.com/office/drawing/2014/main" id="{9995BEF4-4566-4108-9D52-8B2768DA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Equipo: fotos, nombres, apellidos y carrera en esta presentación</a:t>
            </a:r>
          </a:p>
        </p:txBody>
      </p:sp>
      <p:sp>
        <p:nvSpPr>
          <p:cNvPr id="4" name="Demostración: abrir modelos, cód">
            <a:extLst xmlns:a="http://schemas.openxmlformats.org/drawingml/2006/main">
              <a:ext uri="{FF2B5EF4-FFF2-40B4-BE49-F238E27FC236}">
                <a16:creationId xmlns:a16="http://schemas.microsoft.com/office/drawing/2014/main" id="{6015E167-CF31-4771-A95D-8E6739D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Demostración: abrir modelos, código, APIs y UX en sus herramientas</a:t>
            </a:r>
          </a:p>
        </p:txBody>
      </p:sp>
      <p:sp>
        <p:nvSpPr>
          <p:cNvPr id="5" name="Participación: añadir aportes y ">
            <a:extLst xmlns:a="http://schemas.openxmlformats.org/drawingml/2006/main">
              <a:ext uri="{FF2B5EF4-FFF2-40B4-BE49-F238E27FC236}">
                <a16:creationId xmlns:a16="http://schemas.microsoft.com/office/drawing/2014/main" id="{5A64F618-08B8-407C-97CD-5F1353C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Participación: añadir aportes y revisión actual de los cinco integrantes</a:t>
            </a:r>
          </a:p>
        </p:txBody>
      </p:sp>
    </p:spTree>
    <p:extLst>
      <p:ext uri="{BB962C8B-B14F-4D97-AF65-F5344CB8AC3E}">
        <p14:creationId xmlns:p14="http://schemas.microsoft.com/office/powerpoint/2010/main" val="1175524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ierre de TB2">
            <a:extLst xmlns:a="http://schemas.openxmlformats.org/drawingml/2006/main">
              <a:ext uri="{FF2B5EF4-FFF2-40B4-BE49-F238E27FC236}">
                <a16:creationId xmlns:a16="http://schemas.microsoft.com/office/drawing/2014/main" id="{CF69E640-20D0-429F-911F-3223E71E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F"/>
                </a:solidFill>
                <a:latin typeface="Arial"/>
                <a:ea typeface="Arial"/>
                <a:cs typeface="Arial"/>
              </a:rPr>
              <a:t>Cierre de TB2</a:t>
            </a:r>
          </a:p>
        </p:txBody>
      </p:sp>
      <p:sp>
        <p:nvSpPr>
          <p:cNvPr id="2" name="Recuperar despliegue y cerrar ac">
            <a:extLst xmlns:a="http://schemas.openxmlformats.org/drawingml/2006/main">
              <a:ext uri="{FF2B5EF4-FFF2-40B4-BE49-F238E27FC236}">
                <a16:creationId xmlns:a16="http://schemas.microsoft.com/office/drawing/2014/main" id="{B6DCF10D-DF5A-4929-95FD-AA908C5F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Recuperar despliegue y cerrar aceptación del recorrido</a:t>
            </a:r>
          </a:p>
        </p:txBody>
      </p:sp>
      <p:sp>
        <p:nvSpPr>
          <p:cNvPr id="3" name="Confirmar planning, tablero y ap">
            <a:extLst xmlns:a="http://schemas.openxmlformats.org/drawingml/2006/main">
              <a:ext uri="{FF2B5EF4-FFF2-40B4-BE49-F238E27FC236}">
                <a16:creationId xmlns:a16="http://schemas.microsoft.com/office/drawing/2014/main" id="{0D9960CB-FDDE-4A91-8F1D-70B4EFAA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Confirmar planning, tablero y aportes individuales</a:t>
            </a:r>
          </a:p>
        </p:txBody>
      </p:sp>
      <p:sp>
        <p:nvSpPr>
          <p:cNvPr id="4" name="Aplicar validación y publicar vi">
            <a:extLst xmlns:a="http://schemas.openxmlformats.org/drawingml/2006/main">
              <a:ext uri="{FF2B5EF4-FFF2-40B4-BE49-F238E27FC236}">
                <a16:creationId xmlns:a16="http://schemas.microsoft.com/office/drawing/2014/main" id="{0B1ED0D7-C907-4541-AE75-646B53DC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Aplicar validación y publicar videos acordados</a:t>
            </a:r>
          </a:p>
        </p:txBody>
      </p:sp>
      <p:sp>
        <p:nvSpPr>
          <p:cNvPr id="5" name="Cerrar Performance Report y arch">
            <a:extLst xmlns:a="http://schemas.openxmlformats.org/drawingml/2006/main">
              <a:ext uri="{FF2B5EF4-FFF2-40B4-BE49-F238E27FC236}">
                <a16:creationId xmlns:a16="http://schemas.microsoft.com/office/drawing/2014/main" id="{A86412CE-019E-4475-9F79-A7DB0FC1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F"/>
                </a:solidFill>
                <a:latin typeface="Arial"/>
                <a:ea typeface="Arial"/>
                <a:cs typeface="Arial"/>
              </a:rPr>
              <a:t>Cerrar Performance Report y archivos Word/PDF del informe completo</a:t>
            </a:r>
          </a:p>
        </p:txBody>
      </p:sp>
    </p:spTree>
    <p:extLst>
      <p:ext uri="{BB962C8B-B14F-4D97-AF65-F5344CB8AC3E}">
        <p14:creationId xmlns:p14="http://schemas.microsoft.com/office/powerpoint/2010/main" val="1866619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2026-10-30T22:54:25.8800000Z</dcterms:created>
  <dcterms:modified xsi:type="dcterms:W3CDTF">2026-10-30T22:54:25.8800000Z</dcterms:modified>
</coreProperties>
</file>